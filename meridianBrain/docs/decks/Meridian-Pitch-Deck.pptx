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84" r:id="rId13"/>
    <p:sldId id="268" r:id="rId14"/>
    <p:sldId id="270" r:id="rId15"/>
    <p:sldId id="274" r:id="rId16"/>
    <p:sldId id="275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62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9095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20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C3C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A1A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0" y="-1371600"/>
            <a:ext cx="5029200" cy="5029200"/>
          </a:xfrm>
          <a:prstGeom prst="ellipse">
            <a:avLst/>
          </a:prstGeom>
          <a:solidFill>
            <a:srgbClr val="1E1E24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583680" y="2286000"/>
            <a:ext cx="3657600" cy="3657600"/>
          </a:xfrm>
          <a:prstGeom prst="ellipse">
            <a:avLst/>
          </a:prstGeom>
          <a:solidFill>
            <a:srgbClr val="1E1E24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73152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7373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DADA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Dream Copilot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31520" y="21488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is Now Meridian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731520" y="31546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DBF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Collective Brain for Platform Engineering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31520" y="3794760"/>
            <a:ext cx="1371600" cy="45720"/>
          </a:xfrm>
          <a:prstGeom prst="rect">
            <a:avLst/>
          </a:prstGeom>
          <a:solidFill>
            <a:srgbClr val="FDBF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31520" y="3977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DADA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Platform Engineering Leadership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31520" y="4251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DADA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April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A1A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DA1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Agenda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1097280" cy="36576"/>
          </a:xfrm>
          <a:prstGeom prst="rect">
            <a:avLst/>
          </a:prstGeom>
          <a:solidFill>
            <a:srgbClr val="FDBF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02920" cy="411480"/>
          </a:xfrm>
          <a:prstGeom prst="rect">
            <a:avLst/>
          </a:prstGeom>
          <a:solidFill>
            <a:srgbClr val="3C3C43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2161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A1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We Are Today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1453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DADA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Dream Copilot's journey so far</a:t>
            </a:r>
            <a:endParaRPr lang="en-US" sz="12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252728"/>
            <a:ext cx="365760" cy="3657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31520" y="1828800"/>
            <a:ext cx="502920" cy="411480"/>
          </a:xfrm>
          <a:prstGeom prst="rect">
            <a:avLst/>
          </a:prstGeom>
          <a:solidFill>
            <a:srgbClr val="3C3C43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31520" y="18288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417320" y="18105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A1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417320" y="204825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DADA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Pain points driving this evolution</a:t>
            </a:r>
            <a:endParaRPr lang="en-US" sz="12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847088"/>
            <a:ext cx="365760" cy="36576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731520" y="2423160"/>
            <a:ext cx="502920" cy="411480"/>
          </a:xfrm>
          <a:prstGeom prst="rect">
            <a:avLst/>
          </a:prstGeom>
          <a:solidFill>
            <a:srgbClr val="3C3C43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731520" y="24231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417320" y="24048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A1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Introducing Meridian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1417320" y="264261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DADA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it is and why the name</a:t>
            </a:r>
            <a:endParaRPr lang="en-US" sz="12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2441448"/>
            <a:ext cx="365760" cy="36576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731520" y="3017520"/>
            <a:ext cx="502920" cy="411480"/>
          </a:xfrm>
          <a:prstGeom prst="rect">
            <a:avLst/>
          </a:prstGeom>
          <a:solidFill>
            <a:srgbClr val="3C3C43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731520" y="30175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1417320" y="29992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A1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1417320" y="323697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DADA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and platform coverage</a:t>
            </a:r>
            <a:endParaRPr lang="en-US" sz="12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0" y="3035808"/>
            <a:ext cx="365760" cy="36576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731520" y="3611880"/>
            <a:ext cx="502920" cy="411480"/>
          </a:xfrm>
          <a:prstGeom prst="rect">
            <a:avLst/>
          </a:prstGeom>
          <a:solidFill>
            <a:srgbClr val="3C3C43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731520" y="36118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1417320" y="35935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A1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Roadmap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1417320" y="383133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DADA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Q4 FY26 through Q1 FY27</a:t>
            </a:r>
            <a:endParaRPr lang="en-US" sz="1200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3630168"/>
            <a:ext cx="365760" cy="365760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731520" y="4206240"/>
            <a:ext cx="502920" cy="411480"/>
          </a:xfrm>
          <a:prstGeom prst="rect">
            <a:avLst/>
          </a:prstGeom>
          <a:solidFill>
            <a:srgbClr val="3C3C43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4"/>
          <p:cNvSpPr/>
          <p:nvPr/>
        </p:nvSpPr>
        <p:spPr>
          <a:xfrm>
            <a:off x="731520" y="42062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1417320" y="4187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A1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This Means for You</a:t>
            </a:r>
            <a:endParaRPr lang="en-US" sz="1600" dirty="0"/>
          </a:p>
        </p:txBody>
      </p:sp>
      <p:sp>
        <p:nvSpPr>
          <p:cNvPr id="33" name="Text 26"/>
          <p:cNvSpPr/>
          <p:nvPr/>
        </p:nvSpPr>
        <p:spPr>
          <a:xfrm>
            <a:off x="1417320" y="44256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DADA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Team impact and next steps</a:t>
            </a:r>
            <a:endParaRPr lang="en-US" sz="1200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6720" y="4224528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C3C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A1A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We Are Today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DBF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Dream Copilot — Built for CRM, Proven in Production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1737360" cy="1188720"/>
          </a:xfrm>
          <a:prstGeom prst="rect">
            <a:avLst/>
          </a:prstGeom>
          <a:solidFill>
            <a:srgbClr val="2D2D33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84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40+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FC8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Prompts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0" y="1463040"/>
            <a:ext cx="1737360" cy="1188720"/>
          </a:xfrm>
          <a:prstGeom prst="rect">
            <a:avLst/>
          </a:prstGeom>
          <a:solidFill>
            <a:srgbClr val="2D2D33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0" y="15544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DBF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743200" y="2148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FC8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 Tools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1737360" cy="1188720"/>
          </a:xfrm>
          <a:prstGeom prst="rect">
            <a:avLst/>
          </a:prstGeom>
          <a:solidFill>
            <a:srgbClr val="2D2D33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0" y="15544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6B4F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754880" y="2148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FC8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Lifecycle Phases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766560" y="1463040"/>
            <a:ext cx="1737360" cy="1188720"/>
          </a:xfrm>
          <a:prstGeom prst="rect">
            <a:avLst/>
          </a:prstGeom>
          <a:solidFill>
            <a:srgbClr val="2D2D33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766560" y="15544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A1E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766560" y="2148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FC8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Domain (CRM)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2926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Dream Copilot Does Today</a:t>
            </a:r>
            <a:endParaRPr lang="en-US" sz="18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419856"/>
            <a:ext cx="201168" cy="20116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051560" y="33832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FC8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Autonomous ticket workflow — ADO integration with CRM (Salesforce)</a:t>
            </a:r>
            <a:endParaRPr lang="en-US" sz="13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785616"/>
            <a:ext cx="201168" cy="20116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051560" y="37490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FC8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Phased ticket lifecycle management from triage to deployment</a:t>
            </a:r>
            <a:endParaRPr lang="en-US" sz="13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151376"/>
            <a:ext cx="201168" cy="20116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051560" y="41148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FC8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Automated code generation, validation, and testing</a:t>
            </a:r>
            <a:endParaRPr lang="en-US" sz="13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517136"/>
            <a:ext cx="201168" cy="20116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51560" y="44805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FC8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Knowledge capture embedded in every workflow step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A1A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A1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Challenge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C3C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Four Pain Points Holding Platform Engineering Back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3657600" cy="1463040"/>
          </a:xfrm>
          <a:prstGeom prst="rect">
            <a:avLst/>
          </a:prstGeom>
          <a:solidFill>
            <a:srgbClr val="3C3C43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73152" cy="1463040"/>
          </a:xfrm>
          <a:prstGeom prst="rect">
            <a:avLst/>
          </a:prstGeom>
          <a:solidFill>
            <a:srgbClr val="DA1A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05840" y="1691640"/>
            <a:ext cx="457200" cy="457200"/>
          </a:xfrm>
          <a:prstGeom prst="ellipse">
            <a:avLst/>
          </a:prstGeom>
          <a:solidFill>
            <a:srgbClr val="DA1A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78308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1645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Knowledge Loss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05840" y="22402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C8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people leave, critical platform knowledge walks out the door. Tribal knowledge lives in people's heads, not in systems.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1463040"/>
            <a:ext cx="3657600" cy="1463040"/>
          </a:xfrm>
          <a:prstGeom prst="rect">
            <a:avLst/>
          </a:prstGeom>
          <a:solidFill>
            <a:srgbClr val="3C3C43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754880" y="1463040"/>
            <a:ext cx="73152" cy="1463040"/>
          </a:xfrm>
          <a:prstGeom prst="rect">
            <a:avLst/>
          </a:prstGeom>
          <a:solidFill>
            <a:srgbClr val="FDBF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029200" y="1691640"/>
            <a:ext cx="457200" cy="457200"/>
          </a:xfrm>
          <a:prstGeom prst="ellipse">
            <a:avLst/>
          </a:prstGeom>
          <a:solidFill>
            <a:srgbClr val="FDBF3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78308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669280" y="1645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Inconsistent Processes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5029200" y="22402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C8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team has its own way of handling tickets, deployments, and handoffs. No shared playbook across platforms.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731520" y="3154680"/>
            <a:ext cx="3657600" cy="1463040"/>
          </a:xfrm>
          <a:prstGeom prst="rect">
            <a:avLst/>
          </a:prstGeom>
          <a:solidFill>
            <a:srgbClr val="3C3C43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731520" y="3154680"/>
            <a:ext cx="73152" cy="1463040"/>
          </a:xfrm>
          <a:prstGeom prst="rect">
            <a:avLst/>
          </a:prstGeom>
          <a:solidFill>
            <a:srgbClr val="6B4F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1005840" y="3383280"/>
            <a:ext cx="457200" cy="457200"/>
          </a:xfrm>
          <a:prstGeom prst="ellipse">
            <a:avLst/>
          </a:prstGeom>
          <a:solidFill>
            <a:srgbClr val="6B4FB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3474720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645920" y="3337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 Switching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1005840" y="39319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C8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Engineers juggle ADO, Slack, wikis, and platform-specific tools. Every switch is a productivity tax.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754880" y="3154680"/>
            <a:ext cx="3657600" cy="1463040"/>
          </a:xfrm>
          <a:prstGeom prst="rect">
            <a:avLst/>
          </a:prstGeom>
          <a:solidFill>
            <a:srgbClr val="3C3C43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4754880" y="3154680"/>
            <a:ext cx="73152" cy="1463040"/>
          </a:xfrm>
          <a:prstGeom prst="rect">
            <a:avLst/>
          </a:prstGeom>
          <a:solidFill>
            <a:srgbClr val="0084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5029200" y="3383280"/>
            <a:ext cx="457200" cy="457200"/>
          </a:xfrm>
          <a:prstGeom prst="ellipse">
            <a:avLst/>
          </a:prstGeom>
          <a:solidFill>
            <a:srgbClr val="00848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3474720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669280" y="3337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Poor Cross-Team Visibility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5029200" y="39319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C8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way to see dependencies across CRM, Contact Center, Marketing Automation, Integration, and beyond. Blind spots cause incidents.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C3C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A1A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Knowledge Gap Is Real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1463040"/>
          </a:xfrm>
          <a:prstGeom prst="rect">
            <a:avLst/>
          </a:prstGeom>
          <a:solidFill>
            <a:srgbClr val="2D2D33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73152" cy="1463040"/>
          </a:xfrm>
          <a:prstGeom prst="rect">
            <a:avLst/>
          </a:prstGeom>
          <a:solidFill>
            <a:srgbClr val="DA1A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" y="132588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FC8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"How does the Integration layer push data into CRM?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BFC8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the schedule? What's the source?"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300" b="1" dirty="0">
                <a:solidFill>
                  <a:srgbClr val="DA1A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one on the team could answer this after the last departure.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Impact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3429000"/>
            <a:ext cx="2468880" cy="1280160"/>
          </a:xfrm>
          <a:prstGeom prst="rect">
            <a:avLst/>
          </a:prstGeom>
          <a:solidFill>
            <a:srgbClr val="2D2D33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A1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Months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914400" y="39776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C8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 ramp up new team members on cross-platform dependencies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0" y="3429000"/>
            <a:ext cx="2468880" cy="1280160"/>
          </a:xfrm>
          <a:prstGeom prst="rect">
            <a:avLst/>
          </a:prstGeom>
          <a:solidFill>
            <a:srgbClr val="2D2D33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0" y="3520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DBF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Zero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657600" y="39776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C8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documentation on cross functional architecture, decisions, and data flows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3429000"/>
            <a:ext cx="2468880" cy="1280160"/>
          </a:xfrm>
          <a:prstGeom prst="rect">
            <a:avLst/>
          </a:prstGeom>
          <a:solidFill>
            <a:srgbClr val="2D2D33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17920" y="3520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B4F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Repeated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400800" y="39776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C8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mistakes from lost context on past incidents and decisions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A1A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A1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Fragmented Across Every Dimension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A1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Today: Siloed by Platform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657600" cy="384048"/>
          </a:xfrm>
          <a:prstGeom prst="rect">
            <a:avLst/>
          </a:prstGeom>
          <a:solidFill>
            <a:srgbClr val="3C3C43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54864" cy="384048"/>
          </a:xfrm>
          <a:prstGeom prst="rect">
            <a:avLst/>
          </a:prstGeom>
          <a:solidFill>
            <a:srgbClr val="DA1A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16002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C8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CRM team uses Dream Copilot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3657600" cy="384048"/>
          </a:xfrm>
          <a:prstGeom prst="rect">
            <a:avLst/>
          </a:prstGeom>
          <a:solidFill>
            <a:srgbClr val="3C3C43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2103120"/>
            <a:ext cx="54864" cy="384048"/>
          </a:xfrm>
          <a:prstGeom prst="rect">
            <a:avLst/>
          </a:prstGeom>
          <a:solidFill>
            <a:srgbClr val="DA1A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21031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C8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Contact Center team has manual processes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606040"/>
            <a:ext cx="3657600" cy="384048"/>
          </a:xfrm>
          <a:prstGeom prst="rect">
            <a:avLst/>
          </a:prstGeom>
          <a:solidFill>
            <a:srgbClr val="3C3C43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31520" y="2606040"/>
            <a:ext cx="54864" cy="384048"/>
          </a:xfrm>
          <a:prstGeom prst="rect">
            <a:avLst/>
          </a:prstGeom>
          <a:solidFill>
            <a:srgbClr val="DA1A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05840" y="26060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C8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Marketing Automation team uses their own scripts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108960"/>
            <a:ext cx="3657600" cy="384048"/>
          </a:xfrm>
          <a:prstGeom prst="rect">
            <a:avLst/>
          </a:prstGeom>
          <a:solidFill>
            <a:srgbClr val="3C3C43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31520" y="3108960"/>
            <a:ext cx="54864" cy="384048"/>
          </a:xfrm>
          <a:prstGeom prst="rect">
            <a:avLst/>
          </a:prstGeom>
          <a:solidFill>
            <a:srgbClr val="DA1A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05840" y="31089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C8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Integration &amp; others — Different process for each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3611880"/>
            <a:ext cx="3657600" cy="384048"/>
          </a:xfrm>
          <a:prstGeom prst="rect">
            <a:avLst/>
          </a:prstGeom>
          <a:solidFill>
            <a:srgbClr val="3C3C43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31520" y="3611880"/>
            <a:ext cx="54864" cy="384048"/>
          </a:xfrm>
          <a:prstGeom prst="rect">
            <a:avLst/>
          </a:prstGeom>
          <a:solidFill>
            <a:srgbClr val="DA1A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05840" y="36118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C8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shared view of cross-platform work</a:t>
            </a:r>
            <a:endParaRPr lang="en-US" sz="12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2560320"/>
            <a:ext cx="548640" cy="54864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493776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8A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With Meridian: One Collective Brain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4937760" y="1600200"/>
            <a:ext cx="3657600" cy="384048"/>
          </a:xfrm>
          <a:prstGeom prst="rect">
            <a:avLst/>
          </a:prstGeom>
          <a:solidFill>
            <a:srgbClr val="3C3C43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937760" y="1600200"/>
            <a:ext cx="54864" cy="384048"/>
          </a:xfrm>
          <a:prstGeom prst="rect">
            <a:avLst/>
          </a:prstGeom>
          <a:solidFill>
            <a:srgbClr val="108A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212080" y="16002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C8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Unified workflow across all platforms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937760" y="2103120"/>
            <a:ext cx="3657600" cy="384048"/>
          </a:xfrm>
          <a:prstGeom prst="rect">
            <a:avLst/>
          </a:prstGeom>
          <a:solidFill>
            <a:srgbClr val="3C3C43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4937760" y="2103120"/>
            <a:ext cx="54864" cy="384048"/>
          </a:xfrm>
          <a:prstGeom prst="rect">
            <a:avLst/>
          </a:prstGeom>
          <a:solidFill>
            <a:srgbClr val="108A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212080" y="21031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C8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Shared knowledge base and playbooks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937760" y="2606040"/>
            <a:ext cx="3657600" cy="384048"/>
          </a:xfrm>
          <a:prstGeom prst="rect">
            <a:avLst/>
          </a:prstGeom>
          <a:solidFill>
            <a:srgbClr val="3C3C43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4937760" y="2606040"/>
            <a:ext cx="54864" cy="384048"/>
          </a:xfrm>
          <a:prstGeom prst="rect">
            <a:avLst/>
          </a:prstGeom>
          <a:solidFill>
            <a:srgbClr val="108A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5212080" y="26060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C8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Cross-platform dependency mapping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937760" y="3108960"/>
            <a:ext cx="3657600" cy="384048"/>
          </a:xfrm>
          <a:prstGeom prst="rect">
            <a:avLst/>
          </a:prstGeom>
          <a:solidFill>
            <a:srgbClr val="3C3C43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4937760" y="3108960"/>
            <a:ext cx="54864" cy="384048"/>
          </a:xfrm>
          <a:prstGeom prst="rect">
            <a:avLst/>
          </a:prstGeom>
          <a:solidFill>
            <a:srgbClr val="108A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5212080" y="31089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C8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Consistent lifecycle from triage to deploy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4937760" y="3611880"/>
            <a:ext cx="3657600" cy="384048"/>
          </a:xfrm>
          <a:prstGeom prst="rect">
            <a:avLst/>
          </a:prstGeom>
          <a:solidFill>
            <a:srgbClr val="3C3C43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4937760" y="3611880"/>
            <a:ext cx="54864" cy="384048"/>
          </a:xfrm>
          <a:prstGeom prst="rect">
            <a:avLst/>
          </a:prstGeom>
          <a:solidFill>
            <a:srgbClr val="108A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5212080" y="36118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C8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visibility into all team work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731520" y="4297680"/>
            <a:ext cx="7680960" cy="502920"/>
          </a:xfrm>
          <a:prstGeom prst="rect">
            <a:avLst/>
          </a:prstGeom>
          <a:solidFill>
            <a:srgbClr val="DA1A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731520" y="42976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One brain. Every team. Every platform. No blind spots.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C3C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A1A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828800" y="-914400"/>
            <a:ext cx="5486400" cy="5486400"/>
          </a:xfrm>
          <a:prstGeom prst="ellipse">
            <a:avLst/>
          </a:prstGeom>
          <a:solidFill>
            <a:srgbClr val="1E1E24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1E1E24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31520" y="1920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DADA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Introducing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31520" y="22860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Meridian</a:t>
            </a:r>
            <a:endParaRPr lang="en-US" sz="6000" dirty="0"/>
          </a:p>
        </p:txBody>
      </p:sp>
      <p:sp>
        <p:nvSpPr>
          <p:cNvPr id="8" name="Shape 5"/>
          <p:cNvSpPr/>
          <p:nvPr/>
        </p:nvSpPr>
        <p:spPr>
          <a:xfrm>
            <a:off x="3840480" y="3383280"/>
            <a:ext cx="1463040" cy="45720"/>
          </a:xfrm>
          <a:prstGeom prst="rect">
            <a:avLst/>
          </a:prstGeom>
          <a:solidFill>
            <a:srgbClr val="FDBF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" y="35661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DBF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Collective Brain for Platform Engineering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31520" y="4160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ADAD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me·rid·i·an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BFC8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fixed reference point that connects disparate locations — providing orientation and alignment.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A1A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A1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Is Meridian?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1097280" cy="36576"/>
          </a:xfrm>
          <a:prstGeom prst="rect">
            <a:avLst/>
          </a:prstGeom>
          <a:solidFill>
            <a:srgbClr val="FDBF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51760" cy="3291840"/>
          </a:xfrm>
          <a:prstGeom prst="rect">
            <a:avLst/>
          </a:prstGeom>
          <a:solidFill>
            <a:srgbClr val="3C3C43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417320" y="1463040"/>
            <a:ext cx="731520" cy="731520"/>
          </a:xfrm>
          <a:prstGeom prst="ellipse">
            <a:avLst/>
          </a:prstGeom>
          <a:solidFill>
            <a:srgbClr val="00848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6002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4231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Autonomous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Workflow Engine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40080" y="32004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FC8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AI-driven ticket lifecycle management from triage through deployment — across all domains, not just CRM.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37560" y="1188720"/>
            <a:ext cx="2651760" cy="3291840"/>
          </a:xfrm>
          <a:prstGeom prst="rect">
            <a:avLst/>
          </a:prstGeom>
          <a:solidFill>
            <a:srgbClr val="3C3C43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297680" y="1463040"/>
            <a:ext cx="731520" cy="731520"/>
          </a:xfrm>
          <a:prstGeom prst="ellipse">
            <a:avLst/>
          </a:prstGeom>
          <a:solidFill>
            <a:srgbClr val="6B4FB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160020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0440" y="24231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Living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Knowledge Base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3520440" y="32004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FC8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decision, every fix, every integration detail is captured automatically. Knowledge stays even when people don't.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217920" y="1188720"/>
            <a:ext cx="2651760" cy="3291840"/>
          </a:xfrm>
          <a:prstGeom prst="rect">
            <a:avLst/>
          </a:prstGeom>
          <a:solidFill>
            <a:srgbClr val="3C3C43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7178040" y="1463040"/>
            <a:ext cx="731520" cy="731520"/>
          </a:xfrm>
          <a:prstGeom prst="ellipse">
            <a:avLst/>
          </a:prstGeom>
          <a:solidFill>
            <a:srgbClr val="FDBF3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160020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00800" y="24231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Cross-Platform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Intelligence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0" y="32004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FC8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See how Integration feeds CRM, how Contact Center connects to Marketing Automation. Map dependencies that used to be invisible.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C3C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A1A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Evolve Now?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1051560"/>
          </a:xfrm>
          <a:prstGeom prst="rect">
            <a:avLst/>
          </a:prstGeom>
          <a:solidFill>
            <a:srgbClr val="2D2D33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73152" cy="1051560"/>
          </a:xfrm>
          <a:prstGeom prst="rect">
            <a:avLst/>
          </a:prstGeom>
          <a:solidFill>
            <a:srgbClr val="108A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51560" y="1417320"/>
            <a:ext cx="594360" cy="594360"/>
          </a:xfrm>
          <a:prstGeom prst="ellipse">
            <a:avLst/>
          </a:prstGeom>
          <a:solidFill>
            <a:srgbClr val="108A2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153619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20240" y="129844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Proven Foundation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920240" y="164592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C8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Dream Copilot has proven the model works. 40+ prompts, 8 CLI tools, and a full ticket lifecycle — all running in production for CRM. The patterns are battle-tested.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31520" y="2423160"/>
            <a:ext cx="7680960" cy="1051560"/>
          </a:xfrm>
          <a:prstGeom prst="rect">
            <a:avLst/>
          </a:prstGeom>
          <a:solidFill>
            <a:srgbClr val="2D2D33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31520" y="2423160"/>
            <a:ext cx="73152" cy="1051560"/>
          </a:xfrm>
          <a:prstGeom prst="rect">
            <a:avLst/>
          </a:prstGeom>
          <a:solidFill>
            <a:srgbClr val="DA1A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051560" y="2651760"/>
            <a:ext cx="594360" cy="594360"/>
          </a:xfrm>
          <a:prstGeom prst="ellipse">
            <a:avLst/>
          </a:prstGeom>
          <a:solidFill>
            <a:srgbClr val="DA1A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0432" y="2770632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920240" y="253288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Universal Pain Points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1920240" y="288036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C8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domain team shares the same four problems: knowledge loss, inconsistent processes, context switching, and poor cross-team visibility. These aren't CRM-specific — they're organizational.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31520" y="3657600"/>
            <a:ext cx="7680960" cy="1051560"/>
          </a:xfrm>
          <a:prstGeom prst="rect">
            <a:avLst/>
          </a:prstGeom>
          <a:solidFill>
            <a:srgbClr val="2D2D33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731520" y="3657600"/>
            <a:ext cx="73152" cy="1051560"/>
          </a:xfrm>
          <a:prstGeom prst="rect">
            <a:avLst/>
          </a:prstGeom>
          <a:solidFill>
            <a:srgbClr val="FDBF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1051560" y="3886200"/>
            <a:ext cx="594360" cy="594360"/>
          </a:xfrm>
          <a:prstGeom prst="ellipse">
            <a:avLst/>
          </a:prstGeom>
          <a:solidFill>
            <a:srgbClr val="FDBF3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0432" y="4005072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920240" y="376732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Window of Opportunity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1920240" y="411480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C8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org is ready. Teams are asking for better tooling. The alternative is each team building their own silo — or worse, doing nothing.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A1A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A1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Meridian Works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C3C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Platform-Agnostic Core, Platform-Specific Adapters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926080" y="1463040"/>
            <a:ext cx="3291840" cy="2286000"/>
          </a:xfrm>
          <a:prstGeom prst="rect">
            <a:avLst/>
          </a:prstGeom>
          <a:solidFill>
            <a:srgbClr val="3C3C43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60020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926080" y="2286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Meridian Core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3108960" y="26974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DBF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Workflow Engine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DBF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Knowledge Graph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DBF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Dependency Mapper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DBF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Prompt Library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1645920"/>
            <a:ext cx="2011680" cy="640080"/>
          </a:xfrm>
          <a:prstGeom prst="rect">
            <a:avLst/>
          </a:prstGeom>
          <a:solidFill>
            <a:srgbClr val="3C3C43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65760" y="1645920"/>
            <a:ext cx="54864" cy="640080"/>
          </a:xfrm>
          <a:prstGeom prst="rect">
            <a:avLst/>
          </a:prstGeom>
          <a:solidFill>
            <a:srgbClr val="00A1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02920" y="16459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CRM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65760" y="2743200"/>
            <a:ext cx="2011680" cy="640080"/>
          </a:xfrm>
          <a:prstGeom prst="rect">
            <a:avLst/>
          </a:prstGeom>
          <a:solidFill>
            <a:srgbClr val="3C3C43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65760" y="2743200"/>
            <a:ext cx="54864" cy="640080"/>
          </a:xfrm>
          <a:prstGeom prst="rect">
            <a:avLst/>
          </a:prstGeom>
          <a:solidFill>
            <a:srgbClr val="6EC5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02920" y="27432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Contact Center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766560" y="1645920"/>
            <a:ext cx="2011680" cy="640080"/>
          </a:xfrm>
          <a:prstGeom prst="rect">
            <a:avLst/>
          </a:prstGeom>
          <a:solidFill>
            <a:srgbClr val="3C3C43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766560" y="1645920"/>
            <a:ext cx="54864" cy="640080"/>
          </a:xfrm>
          <a:prstGeom prst="rect">
            <a:avLst/>
          </a:prstGeom>
          <a:solidFill>
            <a:srgbClr val="F38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903720" y="16459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Marketing Auto.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766560" y="2743200"/>
            <a:ext cx="2011680" cy="640080"/>
          </a:xfrm>
          <a:prstGeom prst="rect">
            <a:avLst/>
          </a:prstGeom>
          <a:solidFill>
            <a:srgbClr val="3C3C43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6766560" y="2743200"/>
            <a:ext cx="54864" cy="640080"/>
          </a:xfrm>
          <a:prstGeom prst="rect">
            <a:avLst/>
          </a:prstGeom>
          <a:solidFill>
            <a:srgbClr val="0084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903720" y="27432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Integration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3474720" y="4114800"/>
            <a:ext cx="2011680" cy="640080"/>
          </a:xfrm>
          <a:prstGeom prst="rect">
            <a:avLst/>
          </a:prstGeom>
          <a:solidFill>
            <a:srgbClr val="3C3C43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3474720" y="4114800"/>
            <a:ext cx="54864" cy="640080"/>
          </a:xfrm>
          <a:prstGeom prst="rect">
            <a:avLst/>
          </a:prstGeom>
          <a:solidFill>
            <a:srgbClr val="ADADA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3611880" y="41148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Others TBD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2377440" y="1920240"/>
            <a:ext cx="548640" cy="27432"/>
          </a:xfrm>
          <a:prstGeom prst="rect">
            <a:avLst/>
          </a:prstGeom>
          <a:solidFill>
            <a:srgbClr val="00A1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2377440" y="3017520"/>
            <a:ext cx="548640" cy="27432"/>
          </a:xfrm>
          <a:prstGeom prst="rect">
            <a:avLst/>
          </a:prstGeom>
          <a:solidFill>
            <a:srgbClr val="6EC5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6217920" y="1920240"/>
            <a:ext cx="548640" cy="27432"/>
          </a:xfrm>
          <a:prstGeom prst="rect">
            <a:avLst/>
          </a:prstGeom>
          <a:solidFill>
            <a:srgbClr val="F38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6217920" y="3017520"/>
            <a:ext cx="548640" cy="27432"/>
          </a:xfrm>
          <a:prstGeom prst="rect">
            <a:avLst/>
          </a:prstGeom>
          <a:solidFill>
            <a:srgbClr val="0084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4553712" y="3749040"/>
            <a:ext cx="27432" cy="365760"/>
          </a:xfrm>
          <a:prstGeom prst="rect">
            <a:avLst/>
          </a:prstGeom>
          <a:solidFill>
            <a:srgbClr val="ADADAD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C3C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A1A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Platform Coverage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DBF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Growing to Meet Every Platform Team's Needs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7680960" cy="566928"/>
          </a:xfrm>
          <a:prstGeom prst="rect">
            <a:avLst/>
          </a:prstGeom>
          <a:solidFill>
            <a:srgbClr val="2D2D33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54864" cy="566928"/>
          </a:xfrm>
          <a:prstGeom prst="rect">
            <a:avLst/>
          </a:prstGeom>
          <a:solidFill>
            <a:srgbClr val="00A1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137160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CRM (Salesforce)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926080" y="137160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C8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 lifecycle — 40+ prompts, 8 CLI tools, ADO integration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0" y="1508760"/>
            <a:ext cx="1188720" cy="292608"/>
          </a:xfrm>
          <a:prstGeom prst="rect">
            <a:avLst/>
          </a:prstGeom>
          <a:solidFill>
            <a:srgbClr val="108A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949440" y="15087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Live Today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084832"/>
            <a:ext cx="7680960" cy="566928"/>
          </a:xfrm>
          <a:prstGeom prst="rect">
            <a:avLst/>
          </a:prstGeom>
          <a:solidFill>
            <a:srgbClr val="2D2D33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31520" y="2084832"/>
            <a:ext cx="54864" cy="566928"/>
          </a:xfrm>
          <a:prstGeom prst="rect">
            <a:avLst/>
          </a:prstGeom>
          <a:solidFill>
            <a:srgbClr val="6EC5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05840" y="208483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Contact Center (Five9)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926080" y="208483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C8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Contact center workflows, agent routing, call data integration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49440" y="2221992"/>
            <a:ext cx="1188720" cy="292608"/>
          </a:xfrm>
          <a:prstGeom prst="rect">
            <a:avLst/>
          </a:prstGeom>
          <a:solidFill>
            <a:srgbClr val="FDBF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949440" y="222199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Next Up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2798064"/>
            <a:ext cx="7680960" cy="566928"/>
          </a:xfrm>
          <a:prstGeom prst="rect">
            <a:avLst/>
          </a:prstGeom>
          <a:solidFill>
            <a:srgbClr val="2D2D33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31520" y="2798064"/>
            <a:ext cx="54864" cy="566928"/>
          </a:xfrm>
          <a:prstGeom prst="rect">
            <a:avLst/>
          </a:prstGeom>
          <a:solidFill>
            <a:srgbClr val="F38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05840" y="279806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Marketing Automation (SFMC)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926080" y="279806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C8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Campaign automation, journey builder, data extension workflows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949440" y="2935224"/>
            <a:ext cx="1188720" cy="292608"/>
          </a:xfrm>
          <a:prstGeom prst="rect">
            <a:avLst/>
          </a:prstGeom>
          <a:solidFill>
            <a:srgbClr val="0084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949440" y="293522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Planned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3511296"/>
            <a:ext cx="7680960" cy="566928"/>
          </a:xfrm>
          <a:prstGeom prst="rect">
            <a:avLst/>
          </a:prstGeom>
          <a:solidFill>
            <a:srgbClr val="2D2D33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31520" y="3511296"/>
            <a:ext cx="54864" cy="566928"/>
          </a:xfrm>
          <a:prstGeom prst="rect">
            <a:avLst/>
          </a:prstGeom>
          <a:solidFill>
            <a:srgbClr val="ADADA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05840" y="351129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Others TBD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926080" y="351129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C8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Integration (MuleSoft), Business Apps, SIS, HCM, and more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949440" y="3648456"/>
            <a:ext cx="1188720" cy="292608"/>
          </a:xfrm>
          <a:prstGeom prst="rect">
            <a:avLst/>
          </a:prstGeom>
          <a:solidFill>
            <a:srgbClr val="ADADA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949440" y="364845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Discovery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A1A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A1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Cross-Platform Intelligence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Missing Layer: Seeing How Everything Connects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1651000"/>
          </a:xfrm>
          <a:prstGeom prst="rect">
            <a:avLst/>
          </a:prstGeom>
          <a:solidFill>
            <a:srgbClr val="3C3C43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35000" y="1460500"/>
            <a:ext cx="7874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84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Example: Contact Center → Integration → CRM Data Flow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84200" y="1917700"/>
            <a:ext cx="1549400" cy="774700"/>
          </a:xfrm>
          <a:prstGeom prst="rect">
            <a:avLst/>
          </a:prstGeom>
          <a:solidFill>
            <a:srgbClr val="6EC5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84200" y="1917700"/>
            <a:ext cx="1549400" cy="774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1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Contact Center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Call Data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17800" y="1917700"/>
            <a:ext cx="1549400" cy="774700"/>
          </a:xfrm>
          <a:prstGeom prst="rect">
            <a:avLst/>
          </a:prstGeom>
          <a:solidFill>
            <a:srgbClr val="0084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17800" y="1917700"/>
            <a:ext cx="1549400" cy="774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1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Transform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51400" y="1917700"/>
            <a:ext cx="1549400" cy="774700"/>
          </a:xfrm>
          <a:prstGeom prst="rect">
            <a:avLst/>
          </a:prstGeom>
          <a:solidFill>
            <a:srgbClr val="00A1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51400" y="1917700"/>
            <a:ext cx="1549400" cy="774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1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Case Sync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85000" y="1917700"/>
            <a:ext cx="1549400" cy="774700"/>
          </a:xfrm>
          <a:prstGeom prst="rect">
            <a:avLst/>
          </a:prstGeom>
          <a:solidFill>
            <a:srgbClr val="F38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985000" y="1917700"/>
            <a:ext cx="1549400" cy="774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1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Marketing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Campaigns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60600" y="2286000"/>
            <a:ext cx="330200" cy="25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394200" y="2286000"/>
            <a:ext cx="330200" cy="25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527800" y="2286000"/>
            <a:ext cx="330200" cy="25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098800"/>
            <a:ext cx="82296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A1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Meridian Reveals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57200" y="3505200"/>
            <a:ext cx="2641600" cy="1270000"/>
          </a:xfrm>
          <a:prstGeom prst="rect">
            <a:avLst/>
          </a:prstGeom>
          <a:solidFill>
            <a:srgbClr val="3C3C43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" y="3632200"/>
            <a:ext cx="279400" cy="2794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939800" y="3632200"/>
            <a:ext cx="203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1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Dependency Maps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84200" y="4013200"/>
            <a:ext cx="23876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FC8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Which systems feed into which — and what breaks when one changes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251200" y="3505200"/>
            <a:ext cx="2641600" cy="1270000"/>
          </a:xfrm>
          <a:prstGeom prst="rect">
            <a:avLst/>
          </a:prstGeom>
          <a:solidFill>
            <a:srgbClr val="3C3C43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8200" y="3632200"/>
            <a:ext cx="279400" cy="2794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3733800" y="3632200"/>
            <a:ext cx="203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1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Schedule Visibility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3378200" y="4013200"/>
            <a:ext cx="23876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FC8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integrations run, what data they move, and who owns them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6045200" y="3505200"/>
            <a:ext cx="2641600" cy="1270000"/>
          </a:xfrm>
          <a:prstGeom prst="rect">
            <a:avLst/>
          </a:prstGeom>
          <a:solidFill>
            <a:srgbClr val="3C3C43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3632200"/>
            <a:ext cx="279400" cy="27940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527800" y="3632200"/>
            <a:ext cx="203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1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Impact Analysis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6172200" y="4013200"/>
            <a:ext cx="23876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FC8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Before you change anything, know exactly what downstream systems are affected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578821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C3C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A1A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Capabilities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657600" cy="1051560"/>
          </a:xfrm>
          <a:prstGeom prst="rect">
            <a:avLst/>
          </a:prstGeom>
          <a:solidFill>
            <a:srgbClr val="2D2D33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54864" cy="1051560"/>
          </a:xfrm>
          <a:prstGeom prst="rect">
            <a:avLst/>
          </a:prstGeom>
          <a:solidFill>
            <a:srgbClr val="0084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60120" y="1325880"/>
            <a:ext cx="502920" cy="502920"/>
          </a:xfrm>
          <a:prstGeom prst="ellipse">
            <a:avLst/>
          </a:prstGeom>
          <a:solidFill>
            <a:srgbClr val="00848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143560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12070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Autonomous Ticket Lifecycle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645920" y="152704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C8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AI-driven triage, assignment, development, testing, and deployment across any platform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097280"/>
            <a:ext cx="3657600" cy="1051560"/>
          </a:xfrm>
          <a:prstGeom prst="rect">
            <a:avLst/>
          </a:prstGeom>
          <a:solidFill>
            <a:srgbClr val="2D2D33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754880" y="1097280"/>
            <a:ext cx="54864" cy="1051560"/>
          </a:xfrm>
          <a:prstGeom prst="rect">
            <a:avLst/>
          </a:prstGeom>
          <a:solidFill>
            <a:srgbClr val="6B4F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983480" y="1325880"/>
            <a:ext cx="502920" cy="502920"/>
          </a:xfrm>
          <a:prstGeom prst="ellipse">
            <a:avLst/>
          </a:prstGeom>
          <a:solidFill>
            <a:srgbClr val="6B4FB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3208" y="1435608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69280" y="12070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Intelligent Knowledge Capture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669280" y="152704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C8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resolution, every decision automatically documented and searchable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31520" y="2331720"/>
            <a:ext cx="3657600" cy="1051560"/>
          </a:xfrm>
          <a:prstGeom prst="rect">
            <a:avLst/>
          </a:prstGeom>
          <a:solidFill>
            <a:srgbClr val="2D2D33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731520" y="2331720"/>
            <a:ext cx="54864" cy="1051560"/>
          </a:xfrm>
          <a:prstGeom prst="rect">
            <a:avLst/>
          </a:prstGeom>
          <a:solidFill>
            <a:srgbClr val="FDBF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960120" y="2560320"/>
            <a:ext cx="502920" cy="502920"/>
          </a:xfrm>
          <a:prstGeom prst="ellipse">
            <a:avLst/>
          </a:prstGeom>
          <a:solidFill>
            <a:srgbClr val="FDBF3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848" y="2670048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24414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Cross-Platform Dependency Graph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645920" y="276148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C8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Visual maps of how data flows between all platforms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754880" y="2331720"/>
            <a:ext cx="3657600" cy="1051560"/>
          </a:xfrm>
          <a:prstGeom prst="rect">
            <a:avLst/>
          </a:prstGeom>
          <a:solidFill>
            <a:srgbClr val="2D2D33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4754880" y="2331720"/>
            <a:ext cx="54864" cy="1051560"/>
          </a:xfrm>
          <a:prstGeom prst="rect">
            <a:avLst/>
          </a:prstGeom>
          <a:solidFill>
            <a:srgbClr val="00A1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4983480" y="2560320"/>
            <a:ext cx="502920" cy="502920"/>
          </a:xfrm>
          <a:prstGeom prst="ellipse">
            <a:avLst/>
          </a:prstGeom>
          <a:solidFill>
            <a:srgbClr val="00A1E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3208" y="2670048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669280" y="24414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Unified CLI &amp; Prompt Library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5669280" y="276148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C8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Extensible toolset — platform-specific adapters plug into a shared core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731520" y="3566160"/>
            <a:ext cx="3657600" cy="1051560"/>
          </a:xfrm>
          <a:prstGeom prst="rect">
            <a:avLst/>
          </a:prstGeom>
          <a:solidFill>
            <a:srgbClr val="2D2D33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731520" y="3566160"/>
            <a:ext cx="54864" cy="1051560"/>
          </a:xfrm>
          <a:prstGeom prst="rect">
            <a:avLst/>
          </a:prstGeom>
          <a:solidFill>
            <a:srgbClr val="DA1A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960120" y="3794760"/>
            <a:ext cx="502920" cy="502920"/>
          </a:xfrm>
          <a:prstGeom prst="ellipse">
            <a:avLst/>
          </a:prstGeom>
          <a:solidFill>
            <a:srgbClr val="DA1A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9848" y="3904488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645920" y="36758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Team Activity Dashboard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1645920" y="399592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C8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view of who is working on what, across all platforms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4754880" y="3566160"/>
            <a:ext cx="3657600" cy="1051560"/>
          </a:xfrm>
          <a:prstGeom prst="rect">
            <a:avLst/>
          </a:prstGeom>
          <a:solidFill>
            <a:srgbClr val="2D2D33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28"/>
          <p:cNvSpPr/>
          <p:nvPr/>
        </p:nvSpPr>
        <p:spPr>
          <a:xfrm>
            <a:off x="4754880" y="3566160"/>
            <a:ext cx="54864" cy="1051560"/>
          </a:xfrm>
          <a:prstGeom prst="rect">
            <a:avLst/>
          </a:prstGeom>
          <a:solidFill>
            <a:srgbClr val="0084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29"/>
          <p:cNvSpPr/>
          <p:nvPr/>
        </p:nvSpPr>
        <p:spPr>
          <a:xfrm>
            <a:off x="4983480" y="3794760"/>
            <a:ext cx="502920" cy="502920"/>
          </a:xfrm>
          <a:prstGeom prst="ellipse">
            <a:avLst/>
          </a:prstGeom>
          <a:solidFill>
            <a:srgbClr val="00848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93208" y="3904488"/>
            <a:ext cx="274320" cy="27432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5669280" y="36758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Onboarding Accelerator</a:t>
            </a:r>
            <a:endParaRPr lang="en-US" sz="1400" dirty="0"/>
          </a:p>
        </p:txBody>
      </p:sp>
      <p:sp>
        <p:nvSpPr>
          <p:cNvPr id="39" name="Text 31"/>
          <p:cNvSpPr/>
          <p:nvPr/>
        </p:nvSpPr>
        <p:spPr>
          <a:xfrm>
            <a:off x="5669280" y="399592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C8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New team members ramp up in days instead of weeks with embedded context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3C3C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A1A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Roadmap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DBF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Q4 FY26 (Apr–Jun 2026) → Q1 FY27 (Jul–Sep 2026)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7680960" cy="54864"/>
          </a:xfrm>
          <a:prstGeom prst="rect">
            <a:avLst/>
          </a:prstGeom>
          <a:solidFill>
            <a:srgbClr val="FDBF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05840" y="1490472"/>
            <a:ext cx="182880" cy="182880"/>
          </a:xfrm>
          <a:prstGeom prst="ellipse">
            <a:avLst/>
          </a:prstGeom>
          <a:solidFill>
            <a:srgbClr val="00B05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DADA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51760" y="1490472"/>
            <a:ext cx="182880" cy="182880"/>
          </a:xfrm>
          <a:prstGeom prst="ellipse">
            <a:avLst/>
          </a:prstGeom>
          <a:solidFill>
            <a:srgbClr val="FDBF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68880" y="17373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DADA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97680" y="1490472"/>
            <a:ext cx="182880" cy="182880"/>
          </a:xfrm>
          <a:prstGeom prst="ellipse">
            <a:avLst/>
          </a:prstGeom>
          <a:solidFill>
            <a:srgbClr val="FDBF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0" y="17373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DADA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0" y="1490472"/>
            <a:ext cx="182880" cy="182880"/>
          </a:xfrm>
          <a:prstGeom prst="ellipse">
            <a:avLst/>
          </a:prstGeom>
          <a:solidFill>
            <a:srgbClr val="FDBF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0" y="17373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DADA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66560" y="1490472"/>
            <a:ext cx="182880" cy="182880"/>
          </a:xfrm>
          <a:prstGeom prst="ellipse">
            <a:avLst/>
          </a:prstGeom>
          <a:solidFill>
            <a:srgbClr val="FDBF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83680" y="17373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DADA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863840" y="1490472"/>
            <a:ext cx="182880" cy="182880"/>
          </a:xfrm>
          <a:prstGeom prst="ellipse">
            <a:avLst/>
          </a:prstGeom>
          <a:solidFill>
            <a:srgbClr val="FDBF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680960" y="17373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DADA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2148840"/>
            <a:ext cx="3657600" cy="411480"/>
          </a:xfrm>
          <a:prstGeom prst="rect">
            <a:avLst/>
          </a:prstGeom>
          <a:solidFill>
            <a:srgbClr val="DA1A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1520" y="2148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Q4 FY26 — Foundation</a:t>
            </a:r>
            <a:endParaRPr lang="en-US" sz="15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734056"/>
            <a:ext cx="164592" cy="16459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09728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C8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Rebrand Dream Copilot → Meridian</a:t>
            </a:r>
            <a:endParaRPr lang="en-US" sz="110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054096"/>
            <a:ext cx="164592" cy="16459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097280" y="3017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C8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Refactor CRM-specific patterns into platform-agnostic core</a:t>
            </a:r>
            <a:endParaRPr lang="en-US" sz="11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374136"/>
            <a:ext cx="164592" cy="16459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097280" y="3337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C8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Launch cross-platform knowledge base schema</a:t>
            </a:r>
            <a:endParaRPr lang="en-US" sz="11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694176"/>
            <a:ext cx="164592" cy="16459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97280" y="3657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C8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Begin Contact Center (Five9) adapter development</a:t>
            </a:r>
            <a:endParaRPr lang="en-US" sz="11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014216"/>
            <a:ext cx="164592" cy="16459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097280" y="3977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C8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Deploy cross-platform dependency mapping MVP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4754880" y="2148840"/>
            <a:ext cx="3657600" cy="411480"/>
          </a:xfrm>
          <a:prstGeom prst="rect">
            <a:avLst/>
          </a:prstGeom>
          <a:solidFill>
            <a:srgbClr val="6B4F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4"/>
          <p:cNvSpPr/>
          <p:nvPr/>
        </p:nvSpPr>
        <p:spPr>
          <a:xfrm>
            <a:off x="4754880" y="2148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Q1 FY27 — Expansion</a:t>
            </a:r>
            <a:endParaRPr lang="en-US" sz="1500" dirty="0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734056"/>
            <a:ext cx="164592" cy="16459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12064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C8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Contact Center team fully onboarded</a:t>
            </a:r>
            <a:endParaRPr lang="en-US" sz="1100" dirty="0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054096"/>
            <a:ext cx="164592" cy="164592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5120640" y="3017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C8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Marketing Automation (SFMC) adapter begins</a:t>
            </a:r>
            <a:endParaRPr lang="en-US" sz="1100" dirty="0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374136"/>
            <a:ext cx="164592" cy="164592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5120640" y="3337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C8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Cross-platform dashboard v1 live</a:t>
            </a:r>
            <a:endParaRPr lang="en-US" sz="1100" dirty="0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694176"/>
            <a:ext cx="164592" cy="164592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5120640" y="3657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C8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Additional domains in discovery phase</a:t>
            </a:r>
            <a:endParaRPr lang="en-US" sz="1100" dirty="0"/>
          </a:p>
        </p:txBody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4014216"/>
            <a:ext cx="164592" cy="164592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5120640" y="3977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C8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Team onboarding accelerator launched</a:t>
            </a:r>
            <a:endParaRPr lang="en-US" sz="1100" dirty="0"/>
          </a:p>
        </p:txBody>
      </p:sp>
      <p:sp>
        <p:nvSpPr>
          <p:cNvPr id="42" name="Shape 30"/>
          <p:cNvSpPr/>
          <p:nvPr/>
        </p:nvSpPr>
        <p:spPr>
          <a:xfrm>
            <a:off x="731520" y="4434840"/>
            <a:ext cx="7680960" cy="457200"/>
          </a:xfrm>
          <a:prstGeom prst="rect">
            <a:avLst/>
          </a:prstGeom>
          <a:solidFill>
            <a:srgbClr val="DA1A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31"/>
          <p:cNvSpPr/>
          <p:nvPr/>
        </p:nvSpPr>
        <p:spPr>
          <a:xfrm>
            <a:off x="731520" y="4434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CRM remains live throughout — zero disruption to current workflows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C3C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A1A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 Need From You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777240"/>
          </a:xfrm>
          <a:prstGeom prst="rect">
            <a:avLst/>
          </a:prstGeom>
          <a:solidFill>
            <a:srgbClr val="2D2D33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54864" cy="777240"/>
          </a:xfrm>
          <a:prstGeom prst="rect">
            <a:avLst/>
          </a:prstGeom>
          <a:solidFill>
            <a:srgbClr val="0084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05840" y="1234440"/>
            <a:ext cx="502920" cy="502920"/>
          </a:xfrm>
          <a:prstGeom prst="ellipse">
            <a:avLst/>
          </a:prstGeom>
          <a:solidFill>
            <a:srgbClr val="00848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134416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117043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Champion the Transition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737360" y="148132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C8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Help your teams understand that Dream Copilot is evolving, not disappearing. Same foundation, bigger vision.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31520" y="2057400"/>
            <a:ext cx="7680960" cy="777240"/>
          </a:xfrm>
          <a:prstGeom prst="rect">
            <a:avLst/>
          </a:prstGeom>
          <a:solidFill>
            <a:srgbClr val="2D2D33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31520" y="2057400"/>
            <a:ext cx="54864" cy="777240"/>
          </a:xfrm>
          <a:prstGeom prst="rect">
            <a:avLst/>
          </a:prstGeom>
          <a:solidFill>
            <a:srgbClr val="FDBF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005840" y="2194560"/>
            <a:ext cx="502920" cy="502920"/>
          </a:xfrm>
          <a:prstGeom prst="ellipse">
            <a:avLst/>
          </a:prstGeom>
          <a:solidFill>
            <a:srgbClr val="FDBF3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2304288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737360" y="213055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Identify Knowledge Gaps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737360" y="244144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C8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Document the cross-platform dependencies your team struggles with most. This shapes our priority order.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31520" y="3017520"/>
            <a:ext cx="7680960" cy="777240"/>
          </a:xfrm>
          <a:prstGeom prst="rect">
            <a:avLst/>
          </a:prstGeom>
          <a:solidFill>
            <a:srgbClr val="2D2D33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731520" y="3017520"/>
            <a:ext cx="54864" cy="777240"/>
          </a:xfrm>
          <a:prstGeom prst="rect">
            <a:avLst/>
          </a:prstGeom>
          <a:solidFill>
            <a:srgbClr val="6B4F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1005840" y="3154680"/>
            <a:ext cx="502920" cy="502920"/>
          </a:xfrm>
          <a:prstGeom prst="ellipse">
            <a:avLst/>
          </a:prstGeom>
          <a:solidFill>
            <a:srgbClr val="6B4FB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568" y="3264408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737360" y="309067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Nominate Platform Champions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737360" y="340156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C8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platform team needs an advocate to help shape their adapter and onboarding experience.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731520" y="3977640"/>
            <a:ext cx="7680960" cy="777240"/>
          </a:xfrm>
          <a:prstGeom prst="rect">
            <a:avLst/>
          </a:prstGeom>
          <a:solidFill>
            <a:srgbClr val="2D2D33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731520" y="3977640"/>
            <a:ext cx="54864" cy="777240"/>
          </a:xfrm>
          <a:prstGeom prst="rect">
            <a:avLst/>
          </a:prstGeom>
          <a:solidFill>
            <a:srgbClr val="00A1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1005840" y="4114800"/>
            <a:ext cx="502920" cy="502920"/>
          </a:xfrm>
          <a:prstGeom prst="ellipse">
            <a:avLst/>
          </a:prstGeom>
          <a:solidFill>
            <a:srgbClr val="00A1E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5568" y="4224528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737360" y="405079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Provide Feedback Early &amp; Often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1737360" y="436168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C8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is being built for you. The more input we get, the better Meridian serves your teams.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3C3C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A1A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1E1E24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0" y="2286000"/>
            <a:ext cx="4572000" cy="4572000"/>
          </a:xfrm>
          <a:prstGeom prst="ellipse">
            <a:avLst/>
          </a:prstGeom>
          <a:solidFill>
            <a:srgbClr val="1E1E24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548640"/>
            <a:ext cx="1371600" cy="1371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0116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Meridian</a:t>
            </a:r>
            <a:endParaRPr lang="en-US" sz="5200" dirty="0"/>
          </a:p>
        </p:txBody>
      </p:sp>
      <p:sp>
        <p:nvSpPr>
          <p:cNvPr id="7" name="Shape 4"/>
          <p:cNvSpPr/>
          <p:nvPr/>
        </p:nvSpPr>
        <p:spPr>
          <a:xfrm>
            <a:off x="3840480" y="2834640"/>
            <a:ext cx="1463040" cy="45720"/>
          </a:xfrm>
          <a:prstGeom prst="rect">
            <a:avLst/>
          </a:prstGeom>
          <a:solidFill>
            <a:srgbClr val="FDBF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31520" y="3017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DBF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Remember what humans forget. Connect what teams can’t see.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31520" y="3749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31520" y="43891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DADA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Chris | Platform Engineering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31520" y="461772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DADA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April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BFAC1E0-01A0-472D-9964-D891623147C0}">
  <we:reference id="wa200010001" version="1.0.0.1" store="en-US" storeType="OMEX"/>
  <we:alternateReferences>
    <we:reference id="wa200010001" version="1.0.0.1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1094</Words>
  <Application>Microsoft Office PowerPoint</Application>
  <PresentationFormat>On-screen Show (16:9)</PresentationFormat>
  <Paragraphs>206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Georgia</vt:lpstr>
      <vt:lpstr>Montserrat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Dream Copilot is Now Meridian</dc:title>
  <dc:subject>PptxGenJS Presentation</dc:subject>
  <dc:creator>Chris</dc:creator>
  <cp:lastModifiedBy>Christiaan Van Der Merwe</cp:lastModifiedBy>
  <cp:revision>6</cp:revision>
  <dcterms:created xsi:type="dcterms:W3CDTF">2026-04-02T19:26:29Z</dcterms:created>
  <dcterms:modified xsi:type="dcterms:W3CDTF">2026-04-02T21:57:33Z</dcterms:modified>
</cp:coreProperties>
</file>